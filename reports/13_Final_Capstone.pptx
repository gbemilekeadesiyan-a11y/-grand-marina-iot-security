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5143500" cy="9144000"/>
  <p:embeddedFontLst>
    <p:embeddedFont>
      <p:font typeface="Arial Black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N5/YcY/HMghqhTq1YtI7UFQrs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F79D40-FF4C-4018-8A26-7E66DE0BE292}">
  <a:tblStyle styleId="{8AF79D40-FF4C-4018-8A26-7E66DE0BE29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ArialBlack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147e6c44d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d147e6c44d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d147e6c44d_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147e6c44d_2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d147e6c44d_2_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d147e6c44d_2_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147e6c44d_2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d147e6c44d_2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d147e6c44d_2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E8192C">
              <a:alpha val="14901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8B0000">
              <a:alpha val="20000"/>
            </a:srgbClr>
          </a:solidFill>
          <a:ln cap="flat" cmpd="sng" w="12700">
            <a:solidFill>
              <a:srgbClr val="8B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73152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Arial Black"/>
              <a:buNone/>
            </a:pPr>
            <a:r>
              <a:rPr b="1" i="0" lang="en-US" sz="8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ZERO</a:t>
            </a:r>
            <a:endParaRPr b="0" i="0" sz="8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20116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E8192C"/>
                </a:solidFill>
                <a:latin typeface="Arial Black"/>
                <a:ea typeface="Arial Black"/>
                <a:cs typeface="Arial Black"/>
                <a:sym typeface="Arial Black"/>
              </a:rPr>
              <a:t>EXPOSURE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286000" y="3337560"/>
            <a:ext cx="4572000" cy="36576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48640" y="3474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Securing Grand Marina's IoT Water Monitoring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41605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Oluwagbemileke (Gbemi) Adesiyan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Cybersecurity Extern  |  Livingstone College  |  Hydroficient  |  March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E8192C">
              <a:alpha val="10196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THE SITUATION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594360"/>
            <a:ext cx="5669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 500-Room Hotel.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Three Sensors. Zero Protection.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2103120"/>
            <a:ext cx="5303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Grand Marina Hotel monitors its entire water infrastructure using three HYDROLOGIC IoT sensors transmitting live pressure, flow rate, and valve data across the hotel network — completely unprotected.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3337560"/>
            <a:ext cx="1554480" cy="8686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33832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🏢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37490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Main Building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194560" y="3337560"/>
            <a:ext cx="1554480" cy="8686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2194560" y="33832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194560" y="37490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Pool &amp; Spa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931920" y="3337560"/>
            <a:ext cx="1554480" cy="8686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931920" y="33832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🍽️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931920" y="37490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Kitchen &amp; Laundry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217920" y="731520"/>
            <a:ext cx="2743200" cy="4023360"/>
          </a:xfrm>
          <a:prstGeom prst="rect">
            <a:avLst/>
          </a:prstGeom>
          <a:solidFill>
            <a:srgbClr val="8B0000">
              <a:alpha val="30196"/>
            </a:srgbClr>
          </a:solidFill>
          <a:ln cap="flat" cmpd="sng" w="12700">
            <a:solidFill>
              <a:srgbClr val="E819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217920" y="731520"/>
            <a:ext cx="2743200" cy="54864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217920" y="914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PRIOR INCIDENT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217920" y="128016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5600"/>
              <a:buFont typeface="Arial Black"/>
              <a:buNone/>
            </a:pPr>
            <a:r>
              <a:rPr b="1" i="0" lang="en-US" sz="5600" u="none" cap="none" strike="noStrike">
                <a:solidFill>
                  <a:srgbClr val="E8192C"/>
                </a:solidFill>
                <a:latin typeface="Arial Black"/>
                <a:ea typeface="Arial Black"/>
                <a:cs typeface="Arial Black"/>
                <a:sym typeface="Arial Black"/>
              </a:rPr>
              <a:t>$4.2M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17920" y="2240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in water damage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492240" y="2743200"/>
            <a:ext cx="2194560" cy="36576"/>
          </a:xfrm>
          <a:prstGeom prst="rect">
            <a:avLst/>
          </a:prstGeom>
          <a:solidFill>
            <a:srgbClr val="E8192C">
              <a:alpha val="40000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309360" y="2926080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The monitoring system that should have caught it was completely exposed.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THREAT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We Started With a Threat Model — Not a Guess.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Using the STRIDE framework, we mapped every possible attack vector before writing a single line of code.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65760" y="2011680"/>
            <a:ext cx="2651760" cy="11430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365760" y="2011680"/>
            <a:ext cx="457200" cy="1143000"/>
          </a:xfrm>
          <a:prstGeom prst="rect">
            <a:avLst/>
          </a:prstGeom>
          <a:solidFill>
            <a:srgbClr val="E8192C">
              <a:alpha val="70196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365760" y="22860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914400" y="212140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Spoofing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14400" y="25146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Fake devices impersonating sensors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200400" y="2011680"/>
            <a:ext cx="2651760" cy="11430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200400" y="2011680"/>
            <a:ext cx="457200" cy="1143000"/>
          </a:xfrm>
          <a:prstGeom prst="rect">
            <a:avLst/>
          </a:prstGeom>
          <a:solidFill>
            <a:srgbClr val="E8192C">
              <a:alpha val="70196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200400" y="22860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749040" y="212140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Tampering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749040" y="25146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Modifying sensor readings in transit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035040" y="2011680"/>
            <a:ext cx="2651760" cy="11430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035040" y="2011680"/>
            <a:ext cx="457200" cy="1143000"/>
          </a:xfrm>
          <a:prstGeom prst="rect">
            <a:avLst/>
          </a:prstGeom>
          <a:solidFill>
            <a:srgbClr val="E8192C">
              <a:alpha val="70196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035040" y="22860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0" y="212140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Repudiation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0" y="25146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Denying malicious actions occurred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65760" y="3337560"/>
            <a:ext cx="2651760" cy="11430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65760" y="3337560"/>
            <a:ext cx="457200" cy="1143000"/>
          </a:xfrm>
          <a:prstGeom prst="rect">
            <a:avLst/>
          </a:prstGeom>
          <a:solidFill>
            <a:srgbClr val="E8192C">
              <a:alpha val="70196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65760" y="36118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14400" y="344728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Information Disclosure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14400" y="384048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Intercepting private sensor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200400" y="3337560"/>
            <a:ext cx="2651760" cy="11430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200400" y="3337560"/>
            <a:ext cx="457200" cy="1143000"/>
          </a:xfrm>
          <a:prstGeom prst="rect">
            <a:avLst/>
          </a:prstGeom>
          <a:solidFill>
            <a:srgbClr val="E8192C">
              <a:alpha val="70196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3200400" y="36118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749040" y="344728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Denial of Service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749040" y="384048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Overwhelming the MQTT broker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035040" y="3337560"/>
            <a:ext cx="2651760" cy="11430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035040" y="3337560"/>
            <a:ext cx="457200" cy="1143000"/>
          </a:xfrm>
          <a:prstGeom prst="rect">
            <a:avLst/>
          </a:prstGeom>
          <a:solidFill>
            <a:srgbClr val="E8192C">
              <a:alpha val="70196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035040" y="36118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583680" y="344728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Elevation of Privilege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583680" y="384048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Gaining unauthorised remote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8B0000">
              <a:alpha val="50196"/>
            </a:srgbClr>
          </a:solidFill>
          <a:ln cap="flat" cmpd="sng" w="12700">
            <a:solidFill>
              <a:srgbClr val="E819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FINDING: The unprotected pipeline was vulnerable to all six STRIDE categories simultaneously.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THE COMPLICATION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Three Vulnerabilities.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All Proven in Testing.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65760" y="1828800"/>
            <a:ext cx="8412480" cy="84124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65760" y="1828800"/>
            <a:ext cx="594360" cy="841248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65760" y="201168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097280" y="188366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Encryption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097280" y="224942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Test: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Ran a single command on the hotel network.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663440" y="1901952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Intercepted all sensor readings in plain text within seconds. Fully readable — no hacking tools required.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65760" y="2788920"/>
            <a:ext cx="8412480" cy="84124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65760" y="2788920"/>
            <a:ext cx="594360" cy="841248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65760" y="29718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097280" y="284378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Device Identity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097280" y="320954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Test: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Connected an unauthorised device to the broker.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663440" y="2862072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Accepted immediately. The broker couldn't distinguish a genuine HYDROLOGIC sensor from a rogue device.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65760" y="3749040"/>
            <a:ext cx="8412480" cy="84124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365760" y="3749040"/>
            <a:ext cx="594360" cy="841248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365760" y="39319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097280" y="380390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Message Authentication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097280" y="416966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Test: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Captured 5 messages, replayed them 4 minutes later.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663440" y="3822192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Subscriber accepted all 5 without a single error or warning. Replay attacks completely undetected.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 defenses active  ·  0 attacks blocked  ·  100% exposure confirmed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THE RESOLUTION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594360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Six Weeks. Three Security Layers.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Zero Exposure.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65760" y="1920240"/>
            <a:ext cx="8412480" cy="6400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65760" y="1920240"/>
            <a:ext cx="914400" cy="640080"/>
          </a:xfrm>
          <a:prstGeom prst="rect">
            <a:avLst/>
          </a:prstGeom>
          <a:solidFill>
            <a:srgbClr val="8B0000">
              <a:alpha val="60000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365760" y="2075688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417320" y="1975104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  TLS Encryption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417320" y="2267712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Encrypted the communication channel. Nobody can read sensor data in transit.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65760" y="2670048"/>
            <a:ext cx="8412480" cy="6400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365760" y="2670048"/>
            <a:ext cx="914400" cy="640080"/>
          </a:xfrm>
          <a:prstGeom prst="rect">
            <a:avLst/>
          </a:prstGeom>
          <a:solidFill>
            <a:srgbClr val="8B0000">
              <a:alpha val="60000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365760" y="2825496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417320" y="272491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🪪  mTLS Device Identity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417320" y="3017520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Every device proves who it is. Unauthorised devices rejected at the door.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65760" y="3419856"/>
            <a:ext cx="8412480" cy="6400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365760" y="3419856"/>
            <a:ext cx="914400" cy="640080"/>
          </a:xfrm>
          <a:prstGeom prst="rect">
            <a:avLst/>
          </a:prstGeom>
          <a:solidFill>
            <a:srgbClr val="8B0000">
              <a:alpha val="60000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365760" y="3575304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417320" y="347472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  Replay Attack Protection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417320" y="3767328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HMAC-SHA256 + timestamp + sequence counter. Every message verified as fresh and untampered.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65760" y="4169664"/>
            <a:ext cx="8412480" cy="6400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E819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65760" y="4169664"/>
            <a:ext cx="914400" cy="640080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365760" y="4325112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417320" y="4224528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GbemiShield Dashboard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417320" y="4517136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Everything visible in real time. Live sensor data and attack alerts on one screen.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65760" y="4956048"/>
            <a:ext cx="8412480" cy="36576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502650" y="1079100"/>
            <a:ext cx="427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From wide open → fully defended in six weeks.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WEEK 4 EVIDENCE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TLS Encryption — Proven 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65760" y="1508760"/>
            <a:ext cx="5120640" cy="9144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548640" y="15819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Eavesdropping 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3657600" y="1618488"/>
            <a:ext cx="1645920" cy="274320"/>
          </a:xfrm>
          <a:prstGeom prst="rect">
            <a:avLst/>
          </a:prstGeom>
          <a:solidFill>
            <a:srgbClr val="1A4A2A"/>
          </a:solidFill>
          <a:ln cap="flat" cmpd="sng" w="12700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3657600" y="161848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D15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0D158"/>
                </a:solidFill>
                <a:latin typeface="Calibri"/>
                <a:ea typeface="Calibri"/>
                <a:cs typeface="Calibri"/>
                <a:sym typeface="Calibri"/>
              </a:rPr>
              <a:t>BLOCKED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48640" y="196596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WinError 10061 — connection refused before any data exchanged</a:t>
            </a:r>
            <a:r>
              <a:rPr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65760" y="2587752"/>
            <a:ext cx="5120640" cy="9144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48640" y="266090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Wrong CA 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657600" y="2697480"/>
            <a:ext cx="1645920" cy="274320"/>
          </a:xfrm>
          <a:prstGeom prst="rect">
            <a:avLst/>
          </a:prstGeom>
          <a:solidFill>
            <a:srgbClr val="1A4A2A"/>
          </a:solidFill>
          <a:ln cap="flat" cmpd="sng" w="12700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3657600" y="26974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D15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0D158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48640" y="3044952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CERTIFICATE_VERIFY_FAILED — impersonation attempt caught</a:t>
            </a:r>
            <a:r>
              <a:rPr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65760" y="3666744"/>
            <a:ext cx="5120640" cy="9144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548640" y="373989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Verification 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657600" y="3776472"/>
            <a:ext cx="1645920" cy="274320"/>
          </a:xfrm>
          <a:prstGeom prst="rect">
            <a:avLst/>
          </a:prstGeom>
          <a:solidFill>
            <a:srgbClr val="4A1A1A"/>
          </a:solidFill>
          <a:ln cap="flat" cmpd="sng" w="12700">
            <a:solidFill>
              <a:srgbClr val="E819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3657600" y="37764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RISK IDENTIFIED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48640" y="4123944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Proved cert validation must always be enforced</a:t>
            </a:r>
            <a:r>
              <a:rPr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760720" y="1508760"/>
            <a:ext cx="1554480" cy="14630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760720" y="1508760"/>
            <a:ext cx="1554480" cy="54864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5760720" y="187452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E8192C"/>
                </a:solidFill>
                <a:latin typeface="Arial Black"/>
                <a:ea typeface="Arial Black"/>
                <a:cs typeface="Arial Black"/>
                <a:sym typeface="Arial Black"/>
              </a:rPr>
              <a:t>0.16%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760720" y="25146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TLS latency overhead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452360" y="1508760"/>
            <a:ext cx="1554480" cy="14630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7452360" y="1508760"/>
            <a:ext cx="1554480" cy="54864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7452360" y="187452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E8192C"/>
                </a:solidFill>
                <a:latin typeface="Arial Black"/>
                <a:ea typeface="Arial Black"/>
                <a:cs typeface="Arial Black"/>
                <a:sym typeface="Arial Black"/>
              </a:rPr>
              <a:t>0.08ms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52360" y="25146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Added per message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760720" y="3200400"/>
            <a:ext cx="1554480" cy="14630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5760720" y="3200400"/>
            <a:ext cx="1554480" cy="54864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5760720" y="35661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E8192C"/>
                </a:solidFill>
                <a:latin typeface="Arial Black"/>
                <a:ea typeface="Arial Black"/>
                <a:cs typeface="Arial Black"/>
                <a:sym typeface="Arial Black"/>
              </a:rPr>
              <a:t>50 msg/s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760720" y="42062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Peak load — handled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452360" y="3200400"/>
            <a:ext cx="1554480" cy="14630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7452360" y="3200400"/>
            <a:ext cx="1554480" cy="54864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7452360" y="35661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E8192C"/>
                </a:solidFill>
                <a:latin typeface="Arial Black"/>
                <a:ea typeface="Arial Black"/>
                <a:cs typeface="Arial Black"/>
                <a:sym typeface="Arial Black"/>
              </a:rPr>
              <a:t>4/4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7452360" y="42062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Security tests passed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WEEK 5 EVIDENCE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mTLS Device Identity — 4/4 Tests Passed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365760" y="1508760"/>
            <a:ext cx="8412480" cy="685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94360" y="158191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 Valid certificate connects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94360" y="18928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Authorised devices connect normally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675120" y="1673352"/>
            <a:ext cx="1920240" cy="347472"/>
          </a:xfrm>
          <a:prstGeom prst="rect">
            <a:avLst/>
          </a:prstGeom>
          <a:solidFill>
            <a:srgbClr val="1A3A2A"/>
          </a:solidFill>
          <a:ln cap="flat" cmpd="sng" w="12700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6675120" y="167335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D1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0D158"/>
                </a:solidFill>
                <a:latin typeface="Calibri"/>
                <a:ea typeface="Calibri"/>
                <a:cs typeface="Calibri"/>
                <a:sym typeface="Calibri"/>
              </a:rPr>
              <a:t>✓ PASS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65760" y="2313432"/>
            <a:ext cx="8412480" cy="685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594360" y="2386584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 No certificate rejected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94360" y="269748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Rogue devices blocked at the broker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675120" y="2478024"/>
            <a:ext cx="1920240" cy="347472"/>
          </a:xfrm>
          <a:prstGeom prst="rect">
            <a:avLst/>
          </a:prstGeom>
          <a:solidFill>
            <a:srgbClr val="1A3A2A"/>
          </a:solidFill>
          <a:ln cap="flat" cmpd="sng" w="12700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6675120" y="247802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D1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0D158"/>
                </a:solidFill>
                <a:latin typeface="Calibri"/>
                <a:ea typeface="Calibri"/>
                <a:cs typeface="Calibri"/>
                <a:sym typeface="Calibri"/>
              </a:rPr>
              <a:t>✓ PASS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65760" y="3118104"/>
            <a:ext cx="8412480" cy="685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594360" y="3191256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 Wrong CA rejected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94360" y="350215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Only Grand Marina CA-signed certs accepted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675120" y="3282696"/>
            <a:ext cx="1920240" cy="347472"/>
          </a:xfrm>
          <a:prstGeom prst="rect">
            <a:avLst/>
          </a:prstGeom>
          <a:solidFill>
            <a:srgbClr val="1A3A2A"/>
          </a:solidFill>
          <a:ln cap="flat" cmpd="sng" w="12700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675120" y="328269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D1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0D158"/>
                </a:solidFill>
                <a:latin typeface="Calibri"/>
                <a:ea typeface="Calibri"/>
                <a:cs typeface="Calibri"/>
                <a:sym typeface="Calibri"/>
              </a:rPr>
              <a:t>✓ PASS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65760" y="3922776"/>
            <a:ext cx="8412480" cy="685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594360" y="399592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 Expired certificate rejected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94360" y="4306824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Certificate lifecycle enforced automatically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675120" y="4087368"/>
            <a:ext cx="1920240" cy="347472"/>
          </a:xfrm>
          <a:prstGeom prst="rect">
            <a:avLst/>
          </a:prstGeom>
          <a:solidFill>
            <a:srgbClr val="1A3A2A"/>
          </a:solidFill>
          <a:ln cap="flat" cmpd="sng" w="12700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6675120" y="408736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D1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0D158"/>
                </a:solidFill>
                <a:latin typeface="Calibri"/>
                <a:ea typeface="Calibri"/>
                <a:cs typeface="Calibri"/>
                <a:sym typeface="Calibri"/>
              </a:rPr>
              <a:t>✓ PASS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E819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mTLS Benchmark: +2.5ms handshake overhead (11.5%)  ·  0.0ms message latency overhead  ·  Operationally invisible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WEEK 6 EVIDENCE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Replay Attack Protection — 12 Experiments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8"/>
          <p:cNvGraphicFramePr/>
          <p:nvPr/>
        </p:nvGraphicFramePr>
        <p:xfrm>
          <a:off x="36576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{8AF79D40-FF4C-4018-8A26-7E66DE0BE292}</a:tableStyleId>
              </a:tblPr>
              <a:tblGrid>
                <a:gridCol w="2560325"/>
                <a:gridCol w="1920250"/>
                <a:gridCol w="1920250"/>
                <a:gridCol w="2011675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Defense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Immediate Replay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Delayed Replay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Modified Replay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192C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No Defense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6B6B"/>
                          </a:solidFill>
                        </a:rPr>
                        <a:t>0% blocked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6B6B"/>
                          </a:solidFill>
                        </a:rPr>
                        <a:t>0% blocked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6B6B"/>
                          </a:solidFill>
                        </a:rPr>
                        <a:t>0% blocked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Timestamp Only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6B6B"/>
                          </a:solidFill>
                        </a:rPr>
                        <a:t>0% blocked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D15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0D158"/>
                          </a:solidFill>
                        </a:rPr>
                        <a:t>100% blocked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6B6B"/>
                          </a:solidFill>
                        </a:rPr>
                        <a:t>0% blocked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Sequence Only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D15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0D158"/>
                          </a:solidFill>
                        </a:rPr>
                        <a:t>100% blocked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D15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0D158"/>
                          </a:solidFill>
                        </a:rPr>
                        <a:t>100% blocked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6B6B"/>
                          </a:solidFill>
                        </a:rPr>
                        <a:t>0% blocked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All Three Defenses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0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D15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0D158"/>
                          </a:solidFill>
                        </a:rPr>
                        <a:t>100% blocked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0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D15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0D158"/>
                          </a:solidFill>
                        </a:rPr>
                        <a:t>100% blocked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0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D15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0D158"/>
                          </a:solidFill>
                        </a:rPr>
                        <a:t>100% blocked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010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8"/>
          <p:cNvSpPr/>
          <p:nvPr/>
        </p:nvSpPr>
        <p:spPr>
          <a:xfrm>
            <a:off x="365760" y="4160520"/>
            <a:ext cx="8412480" cy="8686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E819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365760" y="4160520"/>
            <a:ext cx="54864" cy="868680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548640" y="42062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48640" y="44531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No single defense is sufficient. Only the combination of all three achieves 100% rejection across every attack type — including tampered data designed to hide a pipe burst.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WEEK 7 EVIDENCE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GbemiShield — Live Security Dashboard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365760" y="1417320"/>
            <a:ext cx="5943600" cy="356616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E819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365760" y="1417320"/>
            <a:ext cx="59436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 Insert GbemiShield Dashboard Screenshot Here 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492240" y="15087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🟢  All three HYDROLOGIC devices live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492240" y="20574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📊  Pressure, flow rate, gate position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492240" y="26060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🔴  Real-time attack alerts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492240" y="31546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📋  Security event 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6492240" y="37033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🛡️  5 attacks blocked live during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492240" y="42519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🔗  WebSocket — updates without refresh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9" title="Screenshot 2026-03-18 0300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417325"/>
            <a:ext cx="5943598" cy="35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E8192C">
              <a:alpha val="10196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THE NUMBERS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Everything We Built. Proven by Data.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65760" y="1508760"/>
            <a:ext cx="2651760" cy="15544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365760" y="1508760"/>
            <a:ext cx="2651760" cy="54864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365760" y="173736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E8192C"/>
                </a:solidFill>
                <a:latin typeface="Arial Black"/>
                <a:ea typeface="Arial Black"/>
                <a:cs typeface="Arial Black"/>
                <a:sym typeface="Arial Black"/>
              </a:rPr>
              <a:t>100%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65760" y="24688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Attack rejection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(all three defenses)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3246120" y="1508760"/>
            <a:ext cx="2651760" cy="15544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3246120" y="1508760"/>
            <a:ext cx="2651760" cy="54864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3246120" y="173736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E8192C"/>
                </a:solidFill>
                <a:latin typeface="Arial Black"/>
                <a:ea typeface="Arial Black"/>
                <a:cs typeface="Arial Black"/>
                <a:sym typeface="Arial Black"/>
              </a:rPr>
              <a:t>0.16%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246120" y="24688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TLS latency overhead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(negligible)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126480" y="1508760"/>
            <a:ext cx="2651760" cy="15544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6126480" y="1508760"/>
            <a:ext cx="2651760" cy="54864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6126480" y="173736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E8192C"/>
                </a:solidFill>
                <a:latin typeface="Arial Black"/>
                <a:ea typeface="Arial Black"/>
                <a:cs typeface="Arial Black"/>
                <a:sym typeface="Arial Black"/>
              </a:rPr>
              <a:t>2.5ms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6126480" y="24688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mTLS handshake overhead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(once per connection)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65760" y="3246120"/>
            <a:ext cx="2651760" cy="15544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65760" y="3246120"/>
            <a:ext cx="2651760" cy="54864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365760" y="347472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E8192C"/>
                </a:solidFill>
                <a:latin typeface="Arial Black"/>
                <a:ea typeface="Arial Black"/>
                <a:cs typeface="Arial Black"/>
                <a:sym typeface="Arial Black"/>
              </a:rPr>
              <a:t>12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365760" y="420624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Controlled experiments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across 4 configurations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3246120" y="3246120"/>
            <a:ext cx="2651760" cy="15544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3246120" y="3246120"/>
            <a:ext cx="2651760" cy="54864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3246120" y="347472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E8192C"/>
                </a:solidFill>
                <a:latin typeface="Arial Black"/>
                <a:ea typeface="Arial Black"/>
                <a:cs typeface="Arial Black"/>
                <a:sym typeface="Arial Black"/>
              </a:rPr>
              <a:t>4/4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3246120" y="420624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mTLS 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tests passed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126480" y="3246120"/>
            <a:ext cx="2651760" cy="15544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6126480" y="3246120"/>
            <a:ext cx="2651760" cy="54864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6126480" y="347472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E8192C"/>
                </a:solidFill>
                <a:latin typeface="Arial Black"/>
                <a:ea typeface="Arial Black"/>
                <a:cs typeface="Arial Black"/>
                <a:sym typeface="Arial Black"/>
              </a:rPr>
              <a:t>0.0ms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6126480" y="420624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Message latency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after connection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Enable All Three Defenses Permanently.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365760" y="1463040"/>
            <a:ext cx="8412480" cy="74980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502920" y="1627632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1143000" y="153619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Keep TLS Encryption 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143000" y="184708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Port 8883 is the minimum. The 0.16% overhead is operationally invisible against Grand Marina's 2-second publish cycle.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365760" y="2331720"/>
            <a:ext cx="8412480" cy="74980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502920" y="2496312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🪪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1143000" y="240487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Keep mTLS Device Verification 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1143000" y="271576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require_certificate true in Mosquitto. The 2.5ms handshake overhead happens once per connection — not per message.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365760" y="3200400"/>
            <a:ext cx="8412480" cy="74980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502920" y="3364992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1143000" y="327355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Keep Replay Protection 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143000" y="358444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Timestamp + sequence + HMAC must all run together. Individual defenses leave blind spots. The combination achieves 100%.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365760" y="4069080"/>
            <a:ext cx="8412480" cy="74980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502920" y="4233672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143000" y="414223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GbemiShield Dashboard 24/7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143000" y="445312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Marcus doesn't need a terminal. The dashboard shows every attack, every alert, every device status — in real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365760" y="4956048"/>
            <a:ext cx="8412480" cy="36576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Where Do We Go From Here?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365760" y="1463040"/>
            <a:ext cx="2651760" cy="356616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365760" y="1463040"/>
            <a:ext cx="2651760" cy="411480"/>
          </a:xfrm>
          <a:prstGeom prst="rect">
            <a:avLst/>
          </a:prstGeom>
          <a:solidFill>
            <a:srgbClr val="E8192C">
              <a:alpha val="80000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36576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IMMEDIATE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502920" y="20116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Store HMAC secret in environment variable — never in source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502920" y="29260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Enable all three defenses on all three HYDROLOGIC devices permanently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502920" y="38404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Run GbemiShield dashboard 24/7 for operations team visibility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3246120" y="1463040"/>
            <a:ext cx="2651760" cy="356616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3246120" y="1463040"/>
            <a:ext cx="2651760" cy="411480"/>
          </a:xfrm>
          <a:prstGeom prst="rect">
            <a:avLst/>
          </a:prstGeom>
          <a:solidFill>
            <a:srgbClr val="FF9F0A">
              <a:alpha val="80000"/>
            </a:srgbClr>
          </a:solidFill>
          <a:ln cap="flat" cmpd="sng" w="12700">
            <a:solidFill>
              <a:srgbClr val="FF9F0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324612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DAYS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3383280" y="20116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0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9F0A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Set up automated alerts when rejection rate spikes above normal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3383280" y="29260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0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9F0A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Expand replay protection to cover the remote shutoff command channel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3383280" y="38404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0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9F0A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Document security configuration for compliance audit trail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6126480" y="1463040"/>
            <a:ext cx="2651760" cy="356616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6126480" y="1463040"/>
            <a:ext cx="2651760" cy="411480"/>
          </a:xfrm>
          <a:prstGeom prst="rect">
            <a:avLst/>
          </a:prstGeom>
          <a:solidFill>
            <a:srgbClr val="30D158">
              <a:alpha val="80000"/>
            </a:srgbClr>
          </a:solidFill>
          <a:ln cap="flat" cmpd="sng" w="12700">
            <a:solidFill>
              <a:srgbClr val="30D15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612648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LONG TERM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6263640" y="20116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D15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0D158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Migrate HMAC secret to AWS Secrets Manager for automatic rotation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6263640" y="29260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D15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0D158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Deploy full pipeline on AWS IoT Core infrastructure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6263640" y="38404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D15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0D158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Upgrade to TLS 1.3 — halves handshake time, removes weak ciphers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147e6c44d_2_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E8192C">
              <a:alpha val="10196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d147e6c44d_2_0"/>
          <p:cNvSpPr/>
          <p:nvPr/>
        </p:nvSpPr>
        <p:spPr>
          <a:xfrm>
            <a:off x="511450" y="9142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192C"/>
                </a:solidFill>
                <a:latin typeface="Calibri"/>
                <a:ea typeface="Calibri"/>
                <a:cs typeface="Calibri"/>
                <a:sym typeface="Calibri"/>
              </a:rPr>
              <a:t>THE 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d147e6c44d_2_0"/>
          <p:cNvSpPr/>
          <p:nvPr/>
        </p:nvSpPr>
        <p:spPr>
          <a:xfrm>
            <a:off x="457200" y="59436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Happens When Every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Check Passes — But Something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Is Still Wrong?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d147e6c44d_2_0"/>
          <p:cNvSpPr/>
          <p:nvPr/>
        </p:nvSpPr>
        <p:spPr>
          <a:xfrm>
            <a:off x="365810" y="2880360"/>
            <a:ext cx="1508700" cy="10059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AAAA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d147e6c44d_2_0"/>
          <p:cNvSpPr/>
          <p:nvPr/>
        </p:nvSpPr>
        <p:spPr>
          <a:xfrm>
            <a:off x="365760" y="2880360"/>
            <a:ext cx="1508700" cy="54900"/>
          </a:xfrm>
          <a:prstGeom prst="rect">
            <a:avLst/>
          </a:prstGeom>
          <a:solidFill>
            <a:srgbClr val="30D158"/>
          </a:solidFill>
          <a:ln cap="flat" cmpd="sng" w="12700">
            <a:solidFill>
              <a:srgbClr val="30D15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d147e6c44d_2_0"/>
          <p:cNvSpPr/>
          <p:nvPr/>
        </p:nvSpPr>
        <p:spPr>
          <a:xfrm>
            <a:off x="365760" y="2971800"/>
            <a:ext cx="150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Day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d147e6c44d_2_0"/>
          <p:cNvSpPr/>
          <p:nvPr/>
        </p:nvSpPr>
        <p:spPr>
          <a:xfrm>
            <a:off x="365760" y="3291840"/>
            <a:ext cx="150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D158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30D158"/>
                </a:solidFill>
                <a:latin typeface="Arial Black"/>
                <a:ea typeface="Arial Black"/>
                <a:cs typeface="Arial Black"/>
                <a:sym typeface="Arial Black"/>
              </a:rPr>
              <a:t>59 PSI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d147e6c44d_2_0"/>
          <p:cNvSpPr/>
          <p:nvPr/>
        </p:nvSpPr>
        <p:spPr>
          <a:xfrm>
            <a:off x="365760" y="3703320"/>
            <a:ext cx="150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d147e6c44d_2_0"/>
          <p:cNvSpPr/>
          <p:nvPr/>
        </p:nvSpPr>
        <p:spPr>
          <a:xfrm>
            <a:off x="2057400" y="2880385"/>
            <a:ext cx="1508700" cy="10059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AAAA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d147e6c44d_2_0"/>
          <p:cNvSpPr/>
          <p:nvPr/>
        </p:nvSpPr>
        <p:spPr>
          <a:xfrm>
            <a:off x="2057400" y="2880373"/>
            <a:ext cx="1508700" cy="54900"/>
          </a:xfrm>
          <a:prstGeom prst="rect">
            <a:avLst/>
          </a:prstGeom>
          <a:solidFill>
            <a:srgbClr val="30D158"/>
          </a:solidFill>
          <a:ln cap="flat" cmpd="sng" w="12700">
            <a:solidFill>
              <a:srgbClr val="30D15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d147e6c44d_2_0"/>
          <p:cNvSpPr/>
          <p:nvPr/>
        </p:nvSpPr>
        <p:spPr>
          <a:xfrm>
            <a:off x="2057400" y="2971800"/>
            <a:ext cx="150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Day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d147e6c44d_2_0"/>
          <p:cNvSpPr/>
          <p:nvPr/>
        </p:nvSpPr>
        <p:spPr>
          <a:xfrm>
            <a:off x="2057400" y="3291840"/>
            <a:ext cx="150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D158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30D158"/>
                </a:solidFill>
                <a:latin typeface="Arial Black"/>
                <a:ea typeface="Arial Black"/>
                <a:cs typeface="Arial Black"/>
                <a:sym typeface="Arial Black"/>
              </a:rPr>
              <a:t>61 PSI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d147e6c44d_2_0"/>
          <p:cNvSpPr/>
          <p:nvPr/>
        </p:nvSpPr>
        <p:spPr>
          <a:xfrm>
            <a:off x="2057400" y="3703320"/>
            <a:ext cx="150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d147e6c44d_2_0"/>
          <p:cNvSpPr/>
          <p:nvPr/>
        </p:nvSpPr>
        <p:spPr>
          <a:xfrm>
            <a:off x="3749040" y="2895828"/>
            <a:ext cx="1508700" cy="10059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AAAA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d147e6c44d_2_0"/>
          <p:cNvSpPr/>
          <p:nvPr/>
        </p:nvSpPr>
        <p:spPr>
          <a:xfrm>
            <a:off x="3749050" y="2889387"/>
            <a:ext cx="1508700" cy="54900"/>
          </a:xfrm>
          <a:prstGeom prst="rect">
            <a:avLst/>
          </a:prstGeom>
          <a:solidFill>
            <a:srgbClr val="FF9F0A"/>
          </a:solidFill>
          <a:ln cap="flat" cmpd="sng" w="12700">
            <a:solidFill>
              <a:srgbClr val="FF9F0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d147e6c44d_2_0"/>
          <p:cNvSpPr/>
          <p:nvPr/>
        </p:nvSpPr>
        <p:spPr>
          <a:xfrm>
            <a:off x="3749040" y="2971800"/>
            <a:ext cx="150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Day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d147e6c44d_2_0"/>
          <p:cNvSpPr/>
          <p:nvPr/>
        </p:nvSpPr>
        <p:spPr>
          <a:xfrm>
            <a:off x="3749040" y="3291840"/>
            <a:ext cx="150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0A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9F0A"/>
                </a:solidFill>
                <a:latin typeface="Arial Black"/>
                <a:ea typeface="Arial Black"/>
                <a:cs typeface="Arial Black"/>
                <a:sym typeface="Arial Black"/>
              </a:rPr>
              <a:t>63 PSI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d147e6c44d_2_0"/>
          <p:cNvSpPr/>
          <p:nvPr/>
        </p:nvSpPr>
        <p:spPr>
          <a:xfrm>
            <a:off x="3749040" y="3703320"/>
            <a:ext cx="150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drifting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d147e6c44d_2_0"/>
          <p:cNvSpPr/>
          <p:nvPr/>
        </p:nvSpPr>
        <p:spPr>
          <a:xfrm>
            <a:off x="5440680" y="2895828"/>
            <a:ext cx="1508700" cy="10059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AAAA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d147e6c44d_2_0"/>
          <p:cNvSpPr/>
          <p:nvPr/>
        </p:nvSpPr>
        <p:spPr>
          <a:xfrm>
            <a:off x="5440680" y="2889400"/>
            <a:ext cx="1508700" cy="54900"/>
          </a:xfrm>
          <a:prstGeom prst="rect">
            <a:avLst/>
          </a:prstGeom>
          <a:solidFill>
            <a:srgbClr val="FF9F0A"/>
          </a:solidFill>
          <a:ln cap="flat" cmpd="sng" w="12700">
            <a:solidFill>
              <a:srgbClr val="FF9F0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d147e6c44d_2_0"/>
          <p:cNvSpPr/>
          <p:nvPr/>
        </p:nvSpPr>
        <p:spPr>
          <a:xfrm>
            <a:off x="5440680" y="2971800"/>
            <a:ext cx="150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Day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d147e6c44d_2_0"/>
          <p:cNvSpPr/>
          <p:nvPr/>
        </p:nvSpPr>
        <p:spPr>
          <a:xfrm>
            <a:off x="5440680" y="3291840"/>
            <a:ext cx="150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0A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9F0A"/>
                </a:solidFill>
                <a:latin typeface="Arial Black"/>
                <a:ea typeface="Arial Black"/>
                <a:cs typeface="Arial Black"/>
                <a:sym typeface="Arial Black"/>
              </a:rPr>
              <a:t>66 PSI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d147e6c44d_2_0"/>
          <p:cNvSpPr/>
          <p:nvPr/>
        </p:nvSpPr>
        <p:spPr>
          <a:xfrm>
            <a:off x="5440680" y="3703320"/>
            <a:ext cx="150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warning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d147e6c44d_2_0"/>
          <p:cNvSpPr/>
          <p:nvPr/>
        </p:nvSpPr>
        <p:spPr>
          <a:xfrm>
            <a:off x="7132320" y="2895828"/>
            <a:ext cx="1508700" cy="10059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AAAA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d147e6c44d_2_0"/>
          <p:cNvSpPr/>
          <p:nvPr/>
        </p:nvSpPr>
        <p:spPr>
          <a:xfrm>
            <a:off x="7132320" y="2889400"/>
            <a:ext cx="1508700" cy="54900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d147e6c44d_2_0"/>
          <p:cNvSpPr/>
          <p:nvPr/>
        </p:nvSpPr>
        <p:spPr>
          <a:xfrm>
            <a:off x="7132320" y="2971800"/>
            <a:ext cx="150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Day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d147e6c44d_2_0"/>
          <p:cNvSpPr/>
          <p:nvPr/>
        </p:nvSpPr>
        <p:spPr>
          <a:xfrm>
            <a:off x="7132320" y="3291840"/>
            <a:ext cx="150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E8192C"/>
                </a:solidFill>
                <a:latin typeface="Arial Black"/>
                <a:ea typeface="Arial Black"/>
                <a:cs typeface="Arial Black"/>
                <a:sym typeface="Arial Black"/>
              </a:rPr>
              <a:t>BURST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d147e6c44d_2_0"/>
          <p:cNvSpPr/>
          <p:nvPr/>
        </p:nvSpPr>
        <p:spPr>
          <a:xfrm>
            <a:off x="7132320" y="3703320"/>
            <a:ext cx="150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d147e6c44d_2_0"/>
          <p:cNvSpPr/>
          <p:nvPr/>
        </p:nvSpPr>
        <p:spPr>
          <a:xfrm>
            <a:off x="2011060" y="4137448"/>
            <a:ext cx="5303400" cy="5943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AAAA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d147e6c44d_2_0"/>
          <p:cNvSpPr/>
          <p:nvPr/>
        </p:nvSpPr>
        <p:spPr>
          <a:xfrm>
            <a:off x="2102400" y="4274543"/>
            <a:ext cx="512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mTLS ✓   HMAC ✓   Timestamp ✓   Sequence ✓   — every rule passed. No alert fired.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d147e6c44d_2_0"/>
          <p:cNvSpPr/>
          <p:nvPr/>
        </p:nvSpPr>
        <p:spPr>
          <a:xfrm>
            <a:off x="5997825" y="537015"/>
            <a:ext cx="2834700" cy="1828800"/>
          </a:xfrm>
          <a:prstGeom prst="rect">
            <a:avLst/>
          </a:prstGeom>
          <a:solidFill>
            <a:srgbClr val="8B0000">
              <a:alpha val="40000"/>
            </a:srgbClr>
          </a:solidFill>
          <a:ln cap="flat" cmpd="sng" w="12700">
            <a:solidFill>
              <a:srgbClr val="E819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d147e6c44d_2_0"/>
          <p:cNvSpPr/>
          <p:nvPr/>
        </p:nvSpPr>
        <p:spPr>
          <a:xfrm>
            <a:off x="6019800" y="777240"/>
            <a:ext cx="2834700" cy="54900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d147e6c44d_2_0"/>
          <p:cNvSpPr/>
          <p:nvPr/>
        </p:nvSpPr>
        <p:spPr>
          <a:xfrm>
            <a:off x="5852150" y="537030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THE BLIND SPOT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d147e6c44d_2_0"/>
          <p:cNvSpPr/>
          <p:nvPr/>
        </p:nvSpPr>
        <p:spPr>
          <a:xfrm>
            <a:off x="6089290" y="914427"/>
            <a:ext cx="26517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This is what kept security engineers up at night — until AI.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147e6c44d_2_39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FF9F0A">
              <a:alpha val="7843"/>
            </a:srgbClr>
          </a:solidFill>
          <a:ln cap="flat" cmpd="sng" w="12700">
            <a:solidFill>
              <a:srgbClr val="FF9F0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d147e6c44d_2_39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0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9F0A"/>
                </a:solidFill>
                <a:latin typeface="Calibri"/>
                <a:ea typeface="Calibri"/>
                <a:cs typeface="Calibri"/>
                <a:sym typeface="Calibri"/>
              </a:rPr>
              <a:t>WEEK 8 EVIDENCE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d147e6c44d_2_39"/>
          <p:cNvSpPr/>
          <p:nvPr/>
        </p:nvSpPr>
        <p:spPr>
          <a:xfrm>
            <a:off x="457200" y="59436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Isolation Forest — Catching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Rules Miss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7" name="Google Shape;367;g3d147e6c44d_2_39"/>
          <p:cNvGraphicFramePr/>
          <p:nvPr/>
        </p:nvGraphicFramePr>
        <p:xfrm>
          <a:off x="36576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{8AF79D40-FF4C-4018-8A26-7E66DE0BE292}</a:tableStyleId>
              </a:tblPr>
              <a:tblGrid>
                <a:gridCol w="2560325"/>
                <a:gridCol w="1645925"/>
                <a:gridCol w="1828800"/>
                <a:gridCol w="2194550"/>
              </a:tblGrid>
              <a:tr h="38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F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Real-Time?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F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Needs Scaling?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F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Verdict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F0A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F0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9F0A"/>
                          </a:solidFill>
                        </a:rPr>
                        <a:t>Isolation Forest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A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AAAAA"/>
                          </a:solidFill>
                        </a:rPr>
                        <a:t>Yes ✅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A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AAAAA"/>
                          </a:solidFill>
                        </a:rPr>
                        <a:t>No ✅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A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F0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9F0A"/>
                          </a:solidFill>
                        </a:rPr>
                        <a:t>SELECTED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A10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AAAAA"/>
                          </a:solidFill>
                        </a:rPr>
                        <a:t>Local Outlier Factor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AAAAA"/>
                          </a:solidFill>
                        </a:rPr>
                        <a:t>No ❌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AAAAA"/>
                          </a:solidFill>
                        </a:rPr>
                        <a:t>No ✅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AAAAA"/>
                          </a:solidFill>
                        </a:rPr>
                        <a:t>Batch only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AAAAA"/>
                          </a:solidFill>
                        </a:rPr>
                        <a:t>One-Class SVM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AAAAA"/>
                          </a:solidFill>
                        </a:rPr>
                        <a:t>Yes ✅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AAAAA"/>
                          </a:solidFill>
                        </a:rPr>
                        <a:t>Yes ⚠️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AAAAA"/>
                          </a:solidFill>
                        </a:rPr>
                        <a:t>Too slow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368" name="Google Shape;368;g3d147e6c44d_2_39"/>
          <p:cNvSpPr/>
          <p:nvPr/>
        </p:nvSpPr>
        <p:spPr>
          <a:xfrm>
            <a:off x="365760" y="3703320"/>
            <a:ext cx="2651760" cy="7772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AAAA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d147e6c44d_2_39"/>
          <p:cNvSpPr/>
          <p:nvPr/>
        </p:nvSpPr>
        <p:spPr>
          <a:xfrm>
            <a:off x="365760" y="3703320"/>
            <a:ext cx="54864" cy="777240"/>
          </a:xfrm>
          <a:prstGeom prst="rect">
            <a:avLst/>
          </a:prstGeom>
          <a:solidFill>
            <a:srgbClr val="30D158"/>
          </a:solidFill>
          <a:ln cap="flat" cmpd="sng" w="12700">
            <a:solidFill>
              <a:srgbClr val="30D15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d147e6c44d_2_39"/>
          <p:cNvSpPr/>
          <p:nvPr/>
        </p:nvSpPr>
        <p:spPr>
          <a:xfrm>
            <a:off x="502920" y="37490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🟢  Green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d147e6c44d_2_39"/>
          <p:cNvSpPr/>
          <p:nvPr/>
        </p:nvSpPr>
        <p:spPr>
          <a:xfrm>
            <a:off x="502920" y="404164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All checks passed — normal reading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d147e6c44d_2_39"/>
          <p:cNvSpPr/>
          <p:nvPr/>
        </p:nvSpPr>
        <p:spPr>
          <a:xfrm>
            <a:off x="3246120" y="3703320"/>
            <a:ext cx="2651760" cy="7772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AAAA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d147e6c44d_2_39"/>
          <p:cNvSpPr/>
          <p:nvPr/>
        </p:nvSpPr>
        <p:spPr>
          <a:xfrm>
            <a:off x="3246120" y="3703320"/>
            <a:ext cx="54864" cy="777240"/>
          </a:xfrm>
          <a:prstGeom prst="rect">
            <a:avLst/>
          </a:prstGeom>
          <a:solidFill>
            <a:srgbClr val="FF9F0A"/>
          </a:solidFill>
          <a:ln cap="flat" cmpd="sng" w="12700">
            <a:solidFill>
              <a:srgbClr val="FF9F0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d147e6c44d_2_39"/>
          <p:cNvSpPr/>
          <p:nvPr/>
        </p:nvSpPr>
        <p:spPr>
          <a:xfrm>
            <a:off x="3383280" y="37490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🟠  Orange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d147e6c44d_2_39"/>
          <p:cNvSpPr/>
          <p:nvPr/>
        </p:nvSpPr>
        <p:spPr>
          <a:xfrm>
            <a:off x="3383280" y="404164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AI flagged unusual pattern — investigate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d147e6c44d_2_39"/>
          <p:cNvSpPr/>
          <p:nvPr/>
        </p:nvSpPr>
        <p:spPr>
          <a:xfrm>
            <a:off x="6126480" y="3703320"/>
            <a:ext cx="2651760" cy="7772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AAAA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d147e6c44d_2_39"/>
          <p:cNvSpPr/>
          <p:nvPr/>
        </p:nvSpPr>
        <p:spPr>
          <a:xfrm>
            <a:off x="6126480" y="3703320"/>
            <a:ext cx="54864" cy="777240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d147e6c44d_2_39"/>
          <p:cNvSpPr/>
          <p:nvPr/>
        </p:nvSpPr>
        <p:spPr>
          <a:xfrm>
            <a:off x="6263640" y="37490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🔴  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d147e6c44d_2_39"/>
          <p:cNvSpPr/>
          <p:nvPr/>
        </p:nvSpPr>
        <p:spPr>
          <a:xfrm>
            <a:off x="6263640" y="404164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Rule blocked — attack 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d147e6c44d_2_3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FF9F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d147e6c44d_2_39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Trained on 1,000 normal readings  ·  Scores every message in real time  ·  Catches gradual drift rules never see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g3d147e6c44d_2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E8192C">
              <a:alpha val="12156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8B0000">
              <a:alpha val="14901"/>
            </a:srgbClr>
          </a:solidFill>
          <a:ln cap="flat" cmpd="sng" w="12700">
            <a:solidFill>
              <a:srgbClr val="8B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ZERO EXPOSURE.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457200" y="19659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5600"/>
              <a:buFont typeface="Arial Black"/>
              <a:buNone/>
            </a:pPr>
            <a:r>
              <a:rPr b="1" i="0" lang="en-US" sz="5600" u="none" cap="none" strike="noStrike">
                <a:solidFill>
                  <a:srgbClr val="E8192C"/>
                </a:solidFill>
                <a:latin typeface="Arial Black"/>
                <a:ea typeface="Arial Black"/>
                <a:cs typeface="Arial Black"/>
                <a:sym typeface="Arial Black"/>
              </a:rPr>
              <a:t>Achieved.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2743200" y="2971800"/>
            <a:ext cx="3657600" cy="36576"/>
          </a:xfrm>
          <a:prstGeom prst="rect">
            <a:avLst/>
          </a:prstGeom>
          <a:solidFill>
            <a:srgbClr val="E8192C">
              <a:alpha val="60000"/>
            </a:srgbClr>
          </a:solidFill>
          <a:ln cap="flat" cmpd="sng" w="12700">
            <a:solidFill>
              <a:srgbClr val="E819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Oluwagbemileke (Gbemi) Adesiyan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Cybersecurity Extern  |  Livingstone College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Hydroficient IoT Security Externship  |  March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457200" y="44165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TLS Encryption  ·  mTLS Device Identity  ·  Replay Attack Protection  ·  GbemiShield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2026-03-19T03:16:13Z</dcterms:created>
  <dc:creator>Oluwagbemileke Adesiyan</dc:creator>
</cp:coreProperties>
</file>